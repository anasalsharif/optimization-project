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5" r:id="rId3"/>
    <p:sldId id="282" r:id="rId4"/>
    <p:sldId id="281" r:id="rId5"/>
    <p:sldId id="276" r:id="rId6"/>
    <p:sldId id="277" r:id="rId7"/>
    <p:sldId id="278" r:id="rId8"/>
    <p:sldId id="279" r:id="rId9"/>
    <p:sldId id="280" r:id="rId10"/>
    <p:sldId id="283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MT0bbI09si7q2ko1kA+Bv9AJ6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94744"/>
  </p:normalViewPr>
  <p:slideViewPr>
    <p:cSldViewPr snapToGrid="0">
      <p:cViewPr varScale="1">
        <p:scale>
          <a:sx n="159" d="100"/>
          <a:sy n="159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4D6E7F36-C1FA-0B4F-B1E8-014358AE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825C40B7-FAFD-2E77-3E0E-204E8DD5C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BCD7EA22-31C4-CA0A-1425-ACFA2B0469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C1E6FC06-5D3F-E61C-D923-595A26FEC8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9064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9B62C27B-5489-044B-D7CC-D1064576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D0573495-65BE-039A-4286-9033B7421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352A21B6-2B18-FF36-E2E4-983622D3A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D825FEE6-F09D-5AE7-7EBC-95308E101C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1955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15943C1B-A0E0-0AD4-BA40-4343A519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4DEAD930-8E46-3874-86AA-08E4011696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7060F5BE-C163-EB32-42DE-69465E666E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17C7F30F-30E3-9905-65FA-5AEF12E49F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1121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83F56A6A-10DC-22A1-5DBB-FE9E1302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C58B82E0-7EFB-D12C-9ABC-BF1CA1B022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1F35E0BB-B7A4-CEF9-7AF9-4D832E37C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B77B5169-28E5-ADED-4848-4675BCE068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4952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CEB40898-B05A-87AE-0A6A-3149893F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850510BA-E2B5-D9EA-A6DD-B684CCCC5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023C5CAC-AB2C-CF85-3590-931D3F45A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FA4C0040-CD63-01B4-F561-49E156A95A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3952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9C555D96-DD9D-EBD9-E3C2-D864EEAB9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E22D1866-632D-FE69-E96E-CA75FFB742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9DA0B356-C676-7746-A44F-283EF653B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2F6226C2-5A97-2210-B32C-3A65E1E4A1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4234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3ABF63FB-C59E-E359-9DB0-9F0CBADD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5DEF0AE2-0964-1B45-DA03-E7B50C258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049C664C-23C5-D5D3-FF76-A8ACB074A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E98E96E1-80C7-BFCB-88F5-B1158E2B7B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2367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5DBA9034-43E6-1512-BF74-73EDA69F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DB315A35-21D1-D844-68ED-3149B54CE4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9387F90E-7CDA-0833-31D4-FCD76CDD9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670B808B-7BB5-1525-F9BB-AB1AD10D94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6618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CEFEAF6F-DFEE-AE71-70D7-741084D4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E9D5F6CB-BE7B-2A6A-2CB0-30C228867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63897486-0625-3AF7-19ED-497D794DB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5989FFFE-9345-0461-2FE4-EEA64B25B6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6875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7b8deec3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7b8deec37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67b8deec37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7b8deec3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7b8deec37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67b8deec37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tr-TR" dirty="0"/>
          </a:p>
        </p:txBody>
      </p:sp>
      <p:sp>
        <p:nvSpPr>
          <p:cNvPr id="241" name="Google Shape;24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871538"/>
            <a:ext cx="914400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050"/>
              <a:buFont typeface="Arial"/>
              <a:buNone/>
            </a:pPr>
            <a:r>
              <a:rPr lang="en-US" sz="4050" b="1" i="0" u="none" strike="noStrike" cap="none" dirty="0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MEREC-AROMAN Sustainability Assessment Tool</a:t>
            </a:r>
            <a:endParaRPr sz="4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538278" y="2643188"/>
            <a:ext cx="613888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 Deep Dive into Software and Industrial Impact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739614" y="3414713"/>
            <a:ext cx="17362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Presented by Team29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806251" y="4014788"/>
            <a:ext cx="160293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Date: June 11, 2025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>
          <a:extLst>
            <a:ext uri="{FF2B5EF4-FFF2-40B4-BE49-F238E27FC236}">
              <a16:creationId xmlns:a16="http://schemas.microsoft.com/office/drawing/2014/main" id="{F67874BB-B0F2-CF9D-EF05-BFF4A4312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>
            <a:extLst>
              <a:ext uri="{FF2B5EF4-FFF2-40B4-BE49-F238E27FC236}">
                <a16:creationId xmlns:a16="http://schemas.microsoft.com/office/drawing/2014/main" id="{0F371D9F-7921-08AD-18CA-ED1705E347CD}"/>
              </a:ext>
            </a:extLst>
          </p:cNvPr>
          <p:cNvSpPr/>
          <p:nvPr/>
        </p:nvSpPr>
        <p:spPr>
          <a:xfrm>
            <a:off x="0" y="1331439"/>
            <a:ext cx="9144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050"/>
              <a:buFont typeface="Arial"/>
              <a:buNone/>
            </a:pPr>
            <a:endParaRPr lang="tr-TR" sz="4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>
            <a:extLst>
              <a:ext uri="{FF2B5EF4-FFF2-40B4-BE49-F238E27FC236}">
                <a16:creationId xmlns:a16="http://schemas.microsoft.com/office/drawing/2014/main" id="{45040864-1C2F-4E48-37C8-6162EAAE5630}"/>
              </a:ext>
            </a:extLst>
          </p:cNvPr>
          <p:cNvSpPr/>
          <p:nvPr/>
        </p:nvSpPr>
        <p:spPr>
          <a:xfrm>
            <a:off x="1538278" y="2643188"/>
            <a:ext cx="613888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 Deep Dive into Software and Industrial Impact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DC8F83FD-A104-84F5-6A41-E278EE2FA26A}"/>
              </a:ext>
            </a:extLst>
          </p:cNvPr>
          <p:cNvSpPr/>
          <p:nvPr/>
        </p:nvSpPr>
        <p:spPr>
          <a:xfrm>
            <a:off x="3739614" y="3414713"/>
            <a:ext cx="17362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Presented by Team29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20DC53A7-FB55-EA99-5BB1-5309309F034C}"/>
              </a:ext>
            </a:extLst>
          </p:cNvPr>
          <p:cNvSpPr/>
          <p:nvPr/>
        </p:nvSpPr>
        <p:spPr>
          <a:xfrm>
            <a:off x="3898232" y="3935627"/>
            <a:ext cx="151095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Date: June 11, 2025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;p1" descr="preencoded.png">
            <a:extLst>
              <a:ext uri="{FF2B5EF4-FFF2-40B4-BE49-F238E27FC236}">
                <a16:creationId xmlns:a16="http://schemas.microsoft.com/office/drawing/2014/main" id="{53D8403D-A5B8-1FEC-6E2A-5CEE41CF7D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89DFF2B6-4329-8E39-09E5-A69005D44497}"/>
              </a:ext>
            </a:extLst>
          </p:cNvPr>
          <p:cNvSpPr txBox="1"/>
          <p:nvPr/>
        </p:nvSpPr>
        <p:spPr>
          <a:xfrm>
            <a:off x="252658" y="1792530"/>
            <a:ext cx="8438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objectively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evaluate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compare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sustainability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performance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major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automotive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manufacturing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plants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Turkey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using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Multi-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Criteria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Decision-Making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(MCDM)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methods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A20C6C3C-B8D9-F018-AF7F-52571B301DD7}"/>
              </a:ext>
            </a:extLst>
          </p:cNvPr>
          <p:cNvSpPr txBox="1"/>
          <p:nvPr/>
        </p:nvSpPr>
        <p:spPr>
          <a:xfrm>
            <a:off x="649701" y="319125"/>
            <a:ext cx="7644063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Sustainability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Performance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Comparison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of Automotive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Plants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in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Turkey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using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MEREC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and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AROMAN</a:t>
            </a:r>
            <a:endParaRPr lang="en-US" sz="2700" b="1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AAD594A-3EE2-1871-7EA1-3A6A433F7810}"/>
              </a:ext>
            </a:extLst>
          </p:cNvPr>
          <p:cNvSpPr txBox="1"/>
          <p:nvPr/>
        </p:nvSpPr>
        <p:spPr>
          <a:xfrm>
            <a:off x="252658" y="2425709"/>
            <a:ext cx="338715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Scope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of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Study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6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major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automotive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plants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were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assessed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: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➤ Ford Otosan Kocaeli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➤ Toyota Adapazarı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➤ Oyak Renault Bursa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➤ Hyundai Assan İzmit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➤ Tofaş Bursa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➤ Mercedes-Benz Aksaray</a:t>
            </a:r>
          </a:p>
          <a:p>
            <a:pPr algn="l"/>
            <a:endParaRPr lang="tr-TR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7B36317C-9B57-4D2E-96BD-0D1D4C46A263}"/>
              </a:ext>
            </a:extLst>
          </p:cNvPr>
          <p:cNvSpPr txBox="1"/>
          <p:nvPr/>
        </p:nvSpPr>
        <p:spPr>
          <a:xfrm>
            <a:off x="3478582" y="2677244"/>
            <a:ext cx="46361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4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key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sustainability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dimensions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were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considered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: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✔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Environmental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✔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Economic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✔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Social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✔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Technological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58834B2-7B19-E9A5-320A-98D5669E677C}"/>
              </a:ext>
            </a:extLst>
          </p:cNvPr>
          <p:cNvSpPr txBox="1"/>
          <p:nvPr/>
        </p:nvSpPr>
        <p:spPr>
          <a:xfrm>
            <a:off x="3478582" y="3962903"/>
            <a:ext cx="46361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Methodological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Approach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br>
              <a:rPr lang="tr-TR" dirty="0"/>
            </a:b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Criteria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were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defined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based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expert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input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analyzed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 Excel,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implemented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 software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tool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broader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usability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6145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>
          <a:extLst>
            <a:ext uri="{FF2B5EF4-FFF2-40B4-BE49-F238E27FC236}">
              <a16:creationId xmlns:a16="http://schemas.microsoft.com/office/drawing/2014/main" id="{E2A5447E-200C-DE6C-14C8-CFDE1AA10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>
            <a:extLst>
              <a:ext uri="{FF2B5EF4-FFF2-40B4-BE49-F238E27FC236}">
                <a16:creationId xmlns:a16="http://schemas.microsoft.com/office/drawing/2014/main" id="{C6BDB460-190B-F073-21F1-96CA3518742F}"/>
              </a:ext>
            </a:extLst>
          </p:cNvPr>
          <p:cNvSpPr/>
          <p:nvPr/>
        </p:nvSpPr>
        <p:spPr>
          <a:xfrm>
            <a:off x="0" y="1331439"/>
            <a:ext cx="9144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050"/>
              <a:buFont typeface="Arial"/>
              <a:buNone/>
            </a:pPr>
            <a:endParaRPr lang="tr-TR" sz="4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>
            <a:extLst>
              <a:ext uri="{FF2B5EF4-FFF2-40B4-BE49-F238E27FC236}">
                <a16:creationId xmlns:a16="http://schemas.microsoft.com/office/drawing/2014/main" id="{10D57C42-F608-8289-5909-5024D4344DED}"/>
              </a:ext>
            </a:extLst>
          </p:cNvPr>
          <p:cNvSpPr/>
          <p:nvPr/>
        </p:nvSpPr>
        <p:spPr>
          <a:xfrm>
            <a:off x="1538278" y="2643188"/>
            <a:ext cx="613888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 Deep Dive into Software and Industrial Impact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26F019E8-EA5D-6FE5-1827-110EC83D2F07}"/>
              </a:ext>
            </a:extLst>
          </p:cNvPr>
          <p:cNvSpPr/>
          <p:nvPr/>
        </p:nvSpPr>
        <p:spPr>
          <a:xfrm>
            <a:off x="3739614" y="3414713"/>
            <a:ext cx="17362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Presented by Team29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D8E0F18B-C088-5233-7D5C-CF9739A94BF6}"/>
              </a:ext>
            </a:extLst>
          </p:cNvPr>
          <p:cNvSpPr/>
          <p:nvPr/>
        </p:nvSpPr>
        <p:spPr>
          <a:xfrm>
            <a:off x="3898232" y="3935627"/>
            <a:ext cx="151095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Date: June 11, 2025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;p1" descr="preencoded.png">
            <a:extLst>
              <a:ext uri="{FF2B5EF4-FFF2-40B4-BE49-F238E27FC236}">
                <a16:creationId xmlns:a16="http://schemas.microsoft.com/office/drawing/2014/main" id="{3A31ACEC-97B8-A991-2E47-2A83382772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13F46BDF-014E-49AF-FCEE-A6129217D66F}"/>
              </a:ext>
            </a:extLst>
          </p:cNvPr>
          <p:cNvSpPr txBox="1"/>
          <p:nvPr/>
        </p:nvSpPr>
        <p:spPr>
          <a:xfrm>
            <a:off x="76200" y="984657"/>
            <a:ext cx="84381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Defined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Criteria</a:t>
            </a:r>
            <a:endParaRPr lang="tr-TR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tr-TR" dirty="0"/>
          </a:p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Environmental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Energy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Efficiency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Waste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Carbon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Footprint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Water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Consumption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Economic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Production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Efficiency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R&amp;D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Investment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Market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Share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Social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Employee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Health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&amp;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Safety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Community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Engagement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Labor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Practices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Technological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Level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Automation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Digital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Integration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3221821-C017-EC62-AFE1-5A46DA14B4A0}"/>
              </a:ext>
            </a:extLst>
          </p:cNvPr>
          <p:cNvSpPr txBox="1"/>
          <p:nvPr/>
        </p:nvSpPr>
        <p:spPr>
          <a:xfrm>
            <a:off x="76200" y="339901"/>
            <a:ext cx="764406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700" b="1" i="0" u="none" strike="noStrike" dirty="0" err="1">
                <a:solidFill>
                  <a:srgbClr val="000000"/>
                </a:solidFill>
                <a:effectLst/>
              </a:rPr>
              <a:t>Criteria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</a:rPr>
              <a:t> &amp; MCDM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</a:rPr>
              <a:t>Methodology</a:t>
            </a:r>
            <a:endParaRPr lang="tr-TR" sz="2700" b="1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B80449E-4E5F-4232-4EF1-DE2788E6286F}"/>
              </a:ext>
            </a:extLst>
          </p:cNvPr>
          <p:cNvSpPr txBox="1"/>
          <p:nvPr/>
        </p:nvSpPr>
        <p:spPr>
          <a:xfrm>
            <a:off x="3080127" y="974703"/>
            <a:ext cx="62177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Applied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MCDM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Methods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algn="l"/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MEREC (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Method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based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on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Removal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Effects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of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Criteria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):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Calculates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objective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weights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evaluating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impact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removing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each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criterion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Measures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performance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variation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caused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each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criterion’s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absence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Weight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values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reflect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each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criterion’s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influence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on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decision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outcome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tr-TR" dirty="0"/>
          </a:p>
          <a:p>
            <a:pPr algn="l">
              <a:buFont typeface="Arial" panose="020B0604020202020204" pitchFamily="34" charset="0"/>
              <a:buChar char="•"/>
            </a:pP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AROMAN (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Alternative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Ranking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Order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Method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Accounting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for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Two-step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Normalization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):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Ranks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alternatives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using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both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linear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vector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normalization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Applies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weighted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scoring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generate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final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sustainability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rankings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This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hybrid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approach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allows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reliable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, data-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driven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decision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support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system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combining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expert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insights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mathematical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objectivity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433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>
          <a:extLst>
            <a:ext uri="{FF2B5EF4-FFF2-40B4-BE49-F238E27FC236}">
              <a16:creationId xmlns:a16="http://schemas.microsoft.com/office/drawing/2014/main" id="{E16F8D95-18DF-F73E-9662-EEE562444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>
            <a:extLst>
              <a:ext uri="{FF2B5EF4-FFF2-40B4-BE49-F238E27FC236}">
                <a16:creationId xmlns:a16="http://schemas.microsoft.com/office/drawing/2014/main" id="{9A609826-3D57-532B-2232-FAAA08614AA9}"/>
              </a:ext>
            </a:extLst>
          </p:cNvPr>
          <p:cNvSpPr/>
          <p:nvPr/>
        </p:nvSpPr>
        <p:spPr>
          <a:xfrm>
            <a:off x="0" y="1331439"/>
            <a:ext cx="9144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050"/>
              <a:buFont typeface="Arial"/>
              <a:buNone/>
            </a:pPr>
            <a:endParaRPr lang="tr-TR" sz="4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>
            <a:extLst>
              <a:ext uri="{FF2B5EF4-FFF2-40B4-BE49-F238E27FC236}">
                <a16:creationId xmlns:a16="http://schemas.microsoft.com/office/drawing/2014/main" id="{28612E46-FA9A-90F8-E642-4C51873C012E}"/>
              </a:ext>
            </a:extLst>
          </p:cNvPr>
          <p:cNvSpPr/>
          <p:nvPr/>
        </p:nvSpPr>
        <p:spPr>
          <a:xfrm>
            <a:off x="1538278" y="2643188"/>
            <a:ext cx="613888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 Deep Dive into Software and Industrial Impact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914F9751-BC39-2865-2599-768F28588574}"/>
              </a:ext>
            </a:extLst>
          </p:cNvPr>
          <p:cNvSpPr/>
          <p:nvPr/>
        </p:nvSpPr>
        <p:spPr>
          <a:xfrm>
            <a:off x="3739614" y="3414713"/>
            <a:ext cx="17362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Presented by Team29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65F5D9CB-79D6-A831-A96C-BC02DDD45F5F}"/>
              </a:ext>
            </a:extLst>
          </p:cNvPr>
          <p:cNvSpPr/>
          <p:nvPr/>
        </p:nvSpPr>
        <p:spPr>
          <a:xfrm>
            <a:off x="3898232" y="3935627"/>
            <a:ext cx="151095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Date: June 11, 2025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;p1" descr="preencoded.png">
            <a:extLst>
              <a:ext uri="{FF2B5EF4-FFF2-40B4-BE49-F238E27FC236}">
                <a16:creationId xmlns:a16="http://schemas.microsoft.com/office/drawing/2014/main" id="{F2BE25A4-69A9-14FC-80FB-7A2F1532B8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D85A673C-552A-B83C-D84C-0481C52EC361}"/>
              </a:ext>
            </a:extLst>
          </p:cNvPr>
          <p:cNvSpPr txBox="1"/>
          <p:nvPr/>
        </p:nvSpPr>
        <p:spPr>
          <a:xfrm>
            <a:off x="252658" y="1765979"/>
            <a:ext cx="84381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MEREC-AROMAN Excel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Prototype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served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as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foundational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engine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algorithmic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implementations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just"/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was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developed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validate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verify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mathematical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logic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MEREC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AROMAN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methods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step-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-step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before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integrating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them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into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software platform.</a:t>
            </a:r>
          </a:p>
          <a:p>
            <a:pPr algn="just"/>
            <a:endParaRPr lang="tr-TR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B96C916-653F-AB9C-DA5A-D21A47484E2A}"/>
              </a:ext>
            </a:extLst>
          </p:cNvPr>
          <p:cNvSpPr txBox="1"/>
          <p:nvPr/>
        </p:nvSpPr>
        <p:spPr>
          <a:xfrm>
            <a:off x="649701" y="539064"/>
            <a:ext cx="76440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Introduction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The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Excel-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Based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Calculation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Engine</a:t>
            </a:r>
            <a:endParaRPr lang="en-US" sz="2700" b="1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2922C3B-EF92-E9AE-F887-5DD218FC91C3}"/>
              </a:ext>
            </a:extLst>
          </p:cNvPr>
          <p:cNvSpPr txBox="1"/>
          <p:nvPr/>
        </p:nvSpPr>
        <p:spPr>
          <a:xfrm>
            <a:off x="163418" y="2958436"/>
            <a:ext cx="3998488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tr-TR" b="0" i="0" u="none" strike="noStrike" dirty="0">
              <a:solidFill>
                <a:srgbClr val="000000"/>
              </a:solidFill>
              <a:effectLst/>
              <a:latin typeface="+mn-lt"/>
            </a:endParaRPr>
          </a:p>
          <a:p>
            <a:pPr algn="l"/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lang="tr-TR" b="1" i="0" u="none" strike="noStrike" dirty="0">
                <a:solidFill>
                  <a:srgbClr val="000000"/>
                </a:solidFill>
                <a:effectLst/>
                <a:latin typeface="+mn-lt"/>
              </a:rPr>
              <a:t>Step-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  <a:latin typeface="+mn-lt"/>
              </a:rPr>
              <a:t>by</a:t>
            </a:r>
            <a:r>
              <a:rPr lang="tr-TR" b="1" i="0" u="none" strike="noStrike" dirty="0">
                <a:solidFill>
                  <a:srgbClr val="000000"/>
                </a:solidFill>
                <a:effectLst/>
                <a:latin typeface="+mn-lt"/>
              </a:rPr>
              <a:t>-Step Excel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  <a:latin typeface="+mn-lt"/>
              </a:rPr>
              <a:t>Workflow</a:t>
            </a:r>
            <a:r>
              <a:rPr lang="tr-TR" b="1" i="0" u="none" strike="noStrike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lang="tr-TR" b="0" i="0" u="none" strike="noStrike" dirty="0">
              <a:solidFill>
                <a:srgbClr val="000000"/>
              </a:solidFill>
              <a:effectLst/>
              <a:latin typeface="+mn-lt"/>
            </a:endParaRPr>
          </a:p>
          <a:p>
            <a:pPr algn="l"/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lang="tr-TR" b="1" i="0" u="none" strike="noStrike" dirty="0">
                <a:solidFill>
                  <a:srgbClr val="000000"/>
                </a:solidFill>
                <a:effectLst/>
                <a:latin typeface="+mn-lt"/>
              </a:rPr>
              <a:t>01_DecisionMatrix</a:t>
            </a:r>
            <a:b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 ➤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decision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matrix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was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constructed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algn="l"/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lang="tr-TR" b="1" i="0" u="none" strike="noStrike" dirty="0">
                <a:solidFill>
                  <a:srgbClr val="000000"/>
                </a:solidFill>
                <a:effectLst/>
                <a:latin typeface="+mn-lt"/>
              </a:rPr>
              <a:t>02_MEREC_Normalization</a:t>
            </a:r>
            <a:b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 ➤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Criteria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were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normalized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algn="l"/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lang="tr-TR" b="1" i="0" u="none" strike="noStrike" dirty="0">
                <a:solidFill>
                  <a:srgbClr val="000000"/>
                </a:solidFill>
                <a:effectLst/>
                <a:latin typeface="+mn-lt"/>
              </a:rPr>
              <a:t>03_MEREC_Si_Sij</a:t>
            </a:r>
            <a:b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 ➤ Si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S’ij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values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were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calculated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algn="l"/>
            <a:r>
              <a:rPr lang="tr-TR" sz="900" b="0" i="0" u="none" strike="noStrike" dirty="0">
                <a:solidFill>
                  <a:srgbClr val="000000"/>
                </a:solidFill>
                <a:effectLst/>
                <a:latin typeface="+mn-lt"/>
              </a:rPr>
              <a:t> 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9C19FB27-30DA-0D88-CA53-01A4038E279A}"/>
              </a:ext>
            </a:extLst>
          </p:cNvPr>
          <p:cNvSpPr txBox="1"/>
          <p:nvPr/>
        </p:nvSpPr>
        <p:spPr>
          <a:xfrm>
            <a:off x="4325324" y="3071813"/>
            <a:ext cx="46361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400" b="1" i="0" u="none" strike="noStrike" dirty="0">
                <a:solidFill>
                  <a:srgbClr val="000000"/>
                </a:solidFill>
                <a:effectLst/>
                <a:latin typeface="+mn-lt"/>
              </a:rPr>
              <a:t>04_MEREC_Weights</a:t>
            </a:r>
            <a:b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 ➤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Criterion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weights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were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determined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algn="l"/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lang="tr-TR" sz="1400" b="1" i="0" u="none" strike="noStrike" dirty="0">
                <a:solidFill>
                  <a:srgbClr val="000000"/>
                </a:solidFill>
                <a:effectLst/>
                <a:latin typeface="+mn-lt"/>
              </a:rPr>
              <a:t>05_AROMAN_Normalize</a:t>
            </a:r>
            <a:b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 ➤ Two-step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normalization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was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applied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algn="l"/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lang="tr-TR" sz="1400" b="1" i="0" u="none" strike="noStrike" dirty="0">
                <a:solidFill>
                  <a:srgbClr val="000000"/>
                </a:solidFill>
                <a:effectLst/>
                <a:latin typeface="+mn-lt"/>
              </a:rPr>
              <a:t>06_AROMAN_Scores</a:t>
            </a:r>
            <a:b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 ➤ Final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sustainability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scores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(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Ri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)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were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computed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algn="l"/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lang="tr-TR" sz="1400" b="1" i="0" u="none" strike="noStrike" dirty="0">
                <a:solidFill>
                  <a:srgbClr val="000000"/>
                </a:solidFill>
                <a:effectLst/>
                <a:latin typeface="+mn-lt"/>
              </a:rPr>
              <a:t>07_FinalRanking</a:t>
            </a:r>
            <a:b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 ➤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Alternatives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were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ranked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(Tofaş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received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the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lowest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sz="14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score</a:t>
            </a:r>
            <a:r>
              <a:rPr lang="tr-TR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53017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>
          <a:extLst>
            <a:ext uri="{FF2B5EF4-FFF2-40B4-BE49-F238E27FC236}">
              <a16:creationId xmlns:a16="http://schemas.microsoft.com/office/drawing/2014/main" id="{A5D73239-D95C-D086-EB93-A764831B8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>
            <a:extLst>
              <a:ext uri="{FF2B5EF4-FFF2-40B4-BE49-F238E27FC236}">
                <a16:creationId xmlns:a16="http://schemas.microsoft.com/office/drawing/2014/main" id="{F6755496-265C-A382-DB4D-11E9B01109A4}"/>
              </a:ext>
            </a:extLst>
          </p:cNvPr>
          <p:cNvSpPr/>
          <p:nvPr/>
        </p:nvSpPr>
        <p:spPr>
          <a:xfrm>
            <a:off x="0" y="1331439"/>
            <a:ext cx="9144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050"/>
              <a:buFont typeface="Arial"/>
              <a:buNone/>
            </a:pPr>
            <a:endParaRPr lang="tr-TR" sz="4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>
            <a:extLst>
              <a:ext uri="{FF2B5EF4-FFF2-40B4-BE49-F238E27FC236}">
                <a16:creationId xmlns:a16="http://schemas.microsoft.com/office/drawing/2014/main" id="{61537765-4FF8-8619-DEA8-3B39DA11D09A}"/>
              </a:ext>
            </a:extLst>
          </p:cNvPr>
          <p:cNvSpPr/>
          <p:nvPr/>
        </p:nvSpPr>
        <p:spPr>
          <a:xfrm>
            <a:off x="1538278" y="2643188"/>
            <a:ext cx="613888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 Deep Dive into Software and Industrial Impact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9E191139-F899-C464-AF6E-4631B0658949}"/>
              </a:ext>
            </a:extLst>
          </p:cNvPr>
          <p:cNvSpPr/>
          <p:nvPr/>
        </p:nvSpPr>
        <p:spPr>
          <a:xfrm>
            <a:off x="3739614" y="3414713"/>
            <a:ext cx="17362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Presented by Team29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BCB2E53B-F4FB-C737-7133-18E549B007A6}"/>
              </a:ext>
            </a:extLst>
          </p:cNvPr>
          <p:cNvSpPr/>
          <p:nvPr/>
        </p:nvSpPr>
        <p:spPr>
          <a:xfrm>
            <a:off x="3898232" y="3935627"/>
            <a:ext cx="151095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Date: June 11, 2025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;p1" descr="preencoded.png">
            <a:extLst>
              <a:ext uri="{FF2B5EF4-FFF2-40B4-BE49-F238E27FC236}">
                <a16:creationId xmlns:a16="http://schemas.microsoft.com/office/drawing/2014/main" id="{0196D888-FEA0-6C53-EA64-3659678E1F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F8BB7B84-F379-E143-97A1-E923A072C0F4}"/>
              </a:ext>
            </a:extLst>
          </p:cNvPr>
          <p:cNvSpPr txBox="1"/>
          <p:nvPr/>
        </p:nvSpPr>
        <p:spPr>
          <a:xfrm>
            <a:off x="351163" y="1427509"/>
            <a:ext cx="753877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Method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Construct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base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decision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matrix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performance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scores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each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factory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against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12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criteria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In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Excel: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Located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in 01_DecisionMatrix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Filled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using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expert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evaluations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Raw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performance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data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each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alternative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–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criterion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pair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was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entered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manually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BB9558B-6C26-DEAB-0E01-15983E75A279}"/>
              </a:ext>
            </a:extLst>
          </p:cNvPr>
          <p:cNvSpPr txBox="1"/>
          <p:nvPr/>
        </p:nvSpPr>
        <p:spPr>
          <a:xfrm>
            <a:off x="-1041725" y="823608"/>
            <a:ext cx="764406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1A202C"/>
              </a:buClr>
              <a:buSzPts val="2700"/>
            </a:pP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Decision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Matrix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Construction</a:t>
            </a:r>
            <a:endParaRPr lang="en-US" sz="2700" b="1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5" name="Resim 4" descr="metin, ekran görüntüsü, sayı, numara, yazı tipi içeren bir resim&#10;&#10;Açıklama otomatik olarak oluşturuldu">
            <a:extLst>
              <a:ext uri="{FF2B5EF4-FFF2-40B4-BE49-F238E27FC236}">
                <a16:creationId xmlns:a16="http://schemas.microsoft.com/office/drawing/2014/main" id="{C217E0FD-2433-3F2F-08E9-3DC968EF1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63" y="3171740"/>
            <a:ext cx="7538778" cy="134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1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>
          <a:extLst>
            <a:ext uri="{FF2B5EF4-FFF2-40B4-BE49-F238E27FC236}">
              <a16:creationId xmlns:a16="http://schemas.microsoft.com/office/drawing/2014/main" id="{20B167CE-1260-54E3-5A49-7DC468D6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>
            <a:extLst>
              <a:ext uri="{FF2B5EF4-FFF2-40B4-BE49-F238E27FC236}">
                <a16:creationId xmlns:a16="http://schemas.microsoft.com/office/drawing/2014/main" id="{6CF70D61-1116-06A5-9CF0-9CF0828178AD}"/>
              </a:ext>
            </a:extLst>
          </p:cNvPr>
          <p:cNvSpPr/>
          <p:nvPr/>
        </p:nvSpPr>
        <p:spPr>
          <a:xfrm>
            <a:off x="0" y="1331439"/>
            <a:ext cx="9144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050"/>
              <a:buFont typeface="Arial"/>
              <a:buNone/>
            </a:pPr>
            <a:endParaRPr lang="tr-TR" sz="4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>
            <a:extLst>
              <a:ext uri="{FF2B5EF4-FFF2-40B4-BE49-F238E27FC236}">
                <a16:creationId xmlns:a16="http://schemas.microsoft.com/office/drawing/2014/main" id="{FE9E6CE4-9F6F-4FE2-C040-E87B54DC66C5}"/>
              </a:ext>
            </a:extLst>
          </p:cNvPr>
          <p:cNvSpPr/>
          <p:nvPr/>
        </p:nvSpPr>
        <p:spPr>
          <a:xfrm>
            <a:off x="1538278" y="2643188"/>
            <a:ext cx="613888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 Deep Dive into Software and Industrial Impact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2B6707A1-BA4C-DB9A-5F17-FB2CB86A7B51}"/>
              </a:ext>
            </a:extLst>
          </p:cNvPr>
          <p:cNvSpPr/>
          <p:nvPr/>
        </p:nvSpPr>
        <p:spPr>
          <a:xfrm>
            <a:off x="3739614" y="3414713"/>
            <a:ext cx="17362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Presented by Team29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E14A7106-1676-D05A-3F66-75E2C3A232DF}"/>
              </a:ext>
            </a:extLst>
          </p:cNvPr>
          <p:cNvSpPr/>
          <p:nvPr/>
        </p:nvSpPr>
        <p:spPr>
          <a:xfrm>
            <a:off x="3898232" y="3935627"/>
            <a:ext cx="151095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Date: June 11, 2025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;p1" descr="preencoded.png">
            <a:extLst>
              <a:ext uri="{FF2B5EF4-FFF2-40B4-BE49-F238E27FC236}">
                <a16:creationId xmlns:a16="http://schemas.microsoft.com/office/drawing/2014/main" id="{D967BDAB-716E-FBFA-BD80-807B87B132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E67BE051-B6E9-C8B6-3C2C-F050D6CD5360}"/>
              </a:ext>
            </a:extLst>
          </p:cNvPr>
          <p:cNvSpPr txBox="1"/>
          <p:nvPr/>
        </p:nvSpPr>
        <p:spPr>
          <a:xfrm>
            <a:off x="252480" y="1178395"/>
            <a:ext cx="75387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MEREC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Normalization</a:t>
            </a:r>
            <a:endParaRPr lang="tr-TR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Method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Normalize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criterion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values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into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a [0,1]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range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allow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unbiased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comparisons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Formulas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Used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 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Beneficial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5367959-3DEE-595F-4DFC-B2E7FC21A7A2}"/>
              </a:ext>
            </a:extLst>
          </p:cNvPr>
          <p:cNvSpPr txBox="1"/>
          <p:nvPr/>
        </p:nvSpPr>
        <p:spPr>
          <a:xfrm>
            <a:off x="-1667367" y="503634"/>
            <a:ext cx="7644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1A202C"/>
              </a:buClr>
              <a:buSzPts val="2700"/>
            </a:pP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Normalized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Matrix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(R)</a:t>
            </a:r>
            <a:endParaRPr lang="en-US" sz="2700" b="1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5" name="Resim 4" descr="metin, yazı tipi, beyaz, çizgi içeren bir resim&#10;&#10;Açıklama otomatik olarak oluşturuldu">
            <a:extLst>
              <a:ext uri="{FF2B5EF4-FFF2-40B4-BE49-F238E27FC236}">
                <a16:creationId xmlns:a16="http://schemas.microsoft.com/office/drawing/2014/main" id="{7725B937-2AE1-E957-27AB-286272EC5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81" y="2618983"/>
            <a:ext cx="1905183" cy="955853"/>
          </a:xfrm>
          <a:prstGeom prst="rect">
            <a:avLst/>
          </a:prstGeom>
        </p:spPr>
      </p:pic>
      <p:pic>
        <p:nvPicPr>
          <p:cNvPr id="9" name="Resim 8" descr="metin, yazı tipi, beyaz, çizgi içeren bir resim&#10;&#10;Açıklama otomatik olarak oluşturuldu">
            <a:extLst>
              <a:ext uri="{FF2B5EF4-FFF2-40B4-BE49-F238E27FC236}">
                <a16:creationId xmlns:a16="http://schemas.microsoft.com/office/drawing/2014/main" id="{0BABC6BF-092D-0E76-B756-335077582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404" y="4048120"/>
            <a:ext cx="1917260" cy="972475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46B6DA25-CE62-2618-ACF1-F3DB24A9DA1A}"/>
              </a:ext>
            </a:extLst>
          </p:cNvPr>
          <p:cNvSpPr txBox="1"/>
          <p:nvPr/>
        </p:nvSpPr>
        <p:spPr>
          <a:xfrm>
            <a:off x="208788" y="3696131"/>
            <a:ext cx="2658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Non-beneficial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lang="tr-TR" dirty="0">
              <a:latin typeface="+mn-lt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5CB359F3-057E-E5D7-0B1C-99648EBFF8B4}"/>
              </a:ext>
            </a:extLst>
          </p:cNvPr>
          <p:cNvSpPr txBox="1"/>
          <p:nvPr/>
        </p:nvSpPr>
        <p:spPr>
          <a:xfrm>
            <a:off x="2901532" y="2513129"/>
            <a:ext cx="46754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In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Excel: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Implemented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in 02_MEREC_Normalization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Ensures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criteria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comparable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across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different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units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scales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7" name="Resim 6" descr="metin, yazı tipi, sayı, numara, yazılım içeren bir resim&#10;&#10;Açıklama otomatik olarak oluşturuldu">
            <a:extLst>
              <a:ext uri="{FF2B5EF4-FFF2-40B4-BE49-F238E27FC236}">
                <a16:creationId xmlns:a16="http://schemas.microsoft.com/office/drawing/2014/main" id="{39636C22-955C-4419-0811-3E4111253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1532" y="3783909"/>
            <a:ext cx="5904868" cy="113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77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>
          <a:extLst>
            <a:ext uri="{FF2B5EF4-FFF2-40B4-BE49-F238E27FC236}">
              <a16:creationId xmlns:a16="http://schemas.microsoft.com/office/drawing/2014/main" id="{6695ED1E-8D00-4974-896C-1BDD7AD1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>
            <a:extLst>
              <a:ext uri="{FF2B5EF4-FFF2-40B4-BE49-F238E27FC236}">
                <a16:creationId xmlns:a16="http://schemas.microsoft.com/office/drawing/2014/main" id="{BCD9E81D-0994-28ED-0E8D-4CE725EDA32B}"/>
              </a:ext>
            </a:extLst>
          </p:cNvPr>
          <p:cNvSpPr/>
          <p:nvPr/>
        </p:nvSpPr>
        <p:spPr>
          <a:xfrm>
            <a:off x="0" y="1331439"/>
            <a:ext cx="9144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050"/>
              <a:buFont typeface="Arial"/>
              <a:buNone/>
            </a:pPr>
            <a:endParaRPr lang="tr-TR" sz="4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>
            <a:extLst>
              <a:ext uri="{FF2B5EF4-FFF2-40B4-BE49-F238E27FC236}">
                <a16:creationId xmlns:a16="http://schemas.microsoft.com/office/drawing/2014/main" id="{5A133E0C-AE29-71D2-E9EC-2217BE8569E4}"/>
              </a:ext>
            </a:extLst>
          </p:cNvPr>
          <p:cNvSpPr/>
          <p:nvPr/>
        </p:nvSpPr>
        <p:spPr>
          <a:xfrm>
            <a:off x="1538278" y="2643188"/>
            <a:ext cx="613888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 Deep Dive into Software and Industrial Impact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1F32AE0C-CD4B-6F9C-D100-8E64D81CB2AC}"/>
              </a:ext>
            </a:extLst>
          </p:cNvPr>
          <p:cNvSpPr/>
          <p:nvPr/>
        </p:nvSpPr>
        <p:spPr>
          <a:xfrm>
            <a:off x="3739614" y="3414713"/>
            <a:ext cx="17362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Presented by Team29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88D53A45-B3B5-38B8-1951-DDD04C1D9235}"/>
              </a:ext>
            </a:extLst>
          </p:cNvPr>
          <p:cNvSpPr/>
          <p:nvPr/>
        </p:nvSpPr>
        <p:spPr>
          <a:xfrm>
            <a:off x="3898232" y="3935627"/>
            <a:ext cx="151095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Date: June 11, 2025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;p1" descr="preencoded.png">
            <a:extLst>
              <a:ext uri="{FF2B5EF4-FFF2-40B4-BE49-F238E27FC236}">
                <a16:creationId xmlns:a16="http://schemas.microsoft.com/office/drawing/2014/main" id="{84006572-A609-B060-9786-022C29CFBA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1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E9A27D67-2953-D3D0-AA79-DDE958634579}"/>
              </a:ext>
            </a:extLst>
          </p:cNvPr>
          <p:cNvSpPr txBox="1"/>
          <p:nvPr/>
        </p:nvSpPr>
        <p:spPr>
          <a:xfrm>
            <a:off x="298802" y="1235877"/>
            <a:ext cx="753877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Compute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Si: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baseline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performance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score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each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alternative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Compute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S’ij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performance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when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each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criterion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is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removed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Formula: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just"/>
            <a:endParaRPr lang="tr-TR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9E9B98C-C243-D7EC-7B8B-36554C32943D}"/>
              </a:ext>
            </a:extLst>
          </p:cNvPr>
          <p:cNvSpPr txBox="1"/>
          <p:nvPr/>
        </p:nvSpPr>
        <p:spPr>
          <a:xfrm>
            <a:off x="193517" y="324182"/>
            <a:ext cx="7644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800" b="1" i="0" u="none" strike="noStrike" dirty="0">
                <a:solidFill>
                  <a:srgbClr val="000000"/>
                </a:solidFill>
                <a:effectLst/>
              </a:rPr>
              <a:t> MEREC Si </a:t>
            </a:r>
            <a:r>
              <a:rPr lang="tr-TR" sz="2800" b="1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tr-TR" sz="28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sz="2800" b="1" i="0" u="none" strike="noStrike" dirty="0" err="1">
                <a:solidFill>
                  <a:srgbClr val="000000"/>
                </a:solidFill>
                <a:effectLst/>
              </a:rPr>
              <a:t>S’ij</a:t>
            </a:r>
            <a:r>
              <a:rPr lang="tr-TR" sz="28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sz="2800" b="1" i="0" u="none" strike="noStrike" dirty="0" err="1">
                <a:solidFill>
                  <a:srgbClr val="000000"/>
                </a:solidFill>
                <a:effectLst/>
              </a:rPr>
              <a:t>Calculation</a:t>
            </a:r>
            <a:endParaRPr lang="tr-TR" sz="2800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7" name="Resim 6" descr="yazı tipi, beyaz, grafik, metin içeren bir resim&#10;&#10;Açıklama otomatik olarak oluşturuldu">
            <a:extLst>
              <a:ext uri="{FF2B5EF4-FFF2-40B4-BE49-F238E27FC236}">
                <a16:creationId xmlns:a16="http://schemas.microsoft.com/office/drawing/2014/main" id="{EB30101B-010F-8790-2397-1C95F9553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54" y="2158756"/>
            <a:ext cx="2140373" cy="1020345"/>
          </a:xfrm>
          <a:prstGeom prst="rect">
            <a:avLst/>
          </a:prstGeom>
        </p:spPr>
      </p:pic>
      <p:sp>
        <p:nvSpPr>
          <p:cNvPr id="21" name="Metin kutusu 20">
            <a:extLst>
              <a:ext uri="{FF2B5EF4-FFF2-40B4-BE49-F238E27FC236}">
                <a16:creationId xmlns:a16="http://schemas.microsoft.com/office/drawing/2014/main" id="{549D6D65-ECCD-FCB4-F7E8-F85B6F7A1178}"/>
              </a:ext>
            </a:extLst>
          </p:cNvPr>
          <p:cNvSpPr txBox="1"/>
          <p:nvPr/>
        </p:nvSpPr>
        <p:spPr>
          <a:xfrm>
            <a:off x="3678651" y="1916214"/>
            <a:ext cx="46319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In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Excel: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Located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in 03_MEREC_Si_Sij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Enables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assessment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of how </a:t>
            </a:r>
          </a:p>
          <a:p>
            <a:pPr algn="l"/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much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each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criterion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impacts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overall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pPr algn="l"/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performance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5F0752C-6588-3CD9-8C6E-22E32D776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01" y="3545333"/>
            <a:ext cx="8479969" cy="1249831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391EB468-9057-2B08-E9C6-52DA78EA411D}"/>
              </a:ext>
            </a:extLst>
          </p:cNvPr>
          <p:cNvSpPr txBox="1"/>
          <p:nvPr/>
        </p:nvSpPr>
        <p:spPr>
          <a:xfrm>
            <a:off x="298802" y="897956"/>
            <a:ext cx="46361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b="1" i="0" u="none" strike="noStrike" dirty="0" err="1">
                <a:solidFill>
                  <a:srgbClr val="000000"/>
                </a:solidFill>
                <a:effectLst/>
              </a:rPr>
              <a:t>Method</a:t>
            </a:r>
            <a:r>
              <a:rPr lang="tr-TR" sz="1400" b="1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8009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>
          <a:extLst>
            <a:ext uri="{FF2B5EF4-FFF2-40B4-BE49-F238E27FC236}">
              <a16:creationId xmlns:a16="http://schemas.microsoft.com/office/drawing/2014/main" id="{C5594EDE-33FD-91EA-908C-A45A99EE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>
            <a:extLst>
              <a:ext uri="{FF2B5EF4-FFF2-40B4-BE49-F238E27FC236}">
                <a16:creationId xmlns:a16="http://schemas.microsoft.com/office/drawing/2014/main" id="{E5795FA8-1F2F-8D3B-72B8-28A6D57A1469}"/>
              </a:ext>
            </a:extLst>
          </p:cNvPr>
          <p:cNvSpPr/>
          <p:nvPr/>
        </p:nvSpPr>
        <p:spPr>
          <a:xfrm>
            <a:off x="0" y="1331439"/>
            <a:ext cx="9144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050"/>
              <a:buFont typeface="Arial"/>
              <a:buNone/>
            </a:pPr>
            <a:endParaRPr lang="tr-TR" sz="4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>
            <a:extLst>
              <a:ext uri="{FF2B5EF4-FFF2-40B4-BE49-F238E27FC236}">
                <a16:creationId xmlns:a16="http://schemas.microsoft.com/office/drawing/2014/main" id="{8234FE51-B074-84B0-F84E-1D4CD9F9528E}"/>
              </a:ext>
            </a:extLst>
          </p:cNvPr>
          <p:cNvSpPr/>
          <p:nvPr/>
        </p:nvSpPr>
        <p:spPr>
          <a:xfrm>
            <a:off x="1538278" y="2643188"/>
            <a:ext cx="613888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 Deep Dive into Software and Industrial Impact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298B2CD1-5A5D-FD17-D8ED-6A09A18E1DB0}"/>
              </a:ext>
            </a:extLst>
          </p:cNvPr>
          <p:cNvSpPr/>
          <p:nvPr/>
        </p:nvSpPr>
        <p:spPr>
          <a:xfrm>
            <a:off x="3739614" y="3414713"/>
            <a:ext cx="17362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Presented by Team29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6A320E33-AE26-E767-E726-FDD4BB9F2C06}"/>
              </a:ext>
            </a:extLst>
          </p:cNvPr>
          <p:cNvSpPr/>
          <p:nvPr/>
        </p:nvSpPr>
        <p:spPr>
          <a:xfrm>
            <a:off x="3898232" y="3935627"/>
            <a:ext cx="151095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Date: June 11, 2025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;p1" descr="preencoded.png">
            <a:extLst>
              <a:ext uri="{FF2B5EF4-FFF2-40B4-BE49-F238E27FC236}">
                <a16:creationId xmlns:a16="http://schemas.microsoft.com/office/drawing/2014/main" id="{595540AD-94A6-61C1-60ED-CF0D7F9CF9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6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A8653122-D5DD-58AE-589C-88342D46A9BE}"/>
              </a:ext>
            </a:extLst>
          </p:cNvPr>
          <p:cNvSpPr txBox="1"/>
          <p:nvPr/>
        </p:nvSpPr>
        <p:spPr>
          <a:xfrm>
            <a:off x="224589" y="1069779"/>
            <a:ext cx="75387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i="0" u="none" strike="noStrike" dirty="0" err="1">
                <a:solidFill>
                  <a:srgbClr val="000000"/>
                </a:solidFill>
                <a:effectLst/>
                <a:latin typeface="+mn-lt"/>
              </a:rPr>
              <a:t>Method</a:t>
            </a:r>
            <a:r>
              <a:rPr lang="tr-TR" b="1" i="0" u="none" strike="noStrike" dirty="0">
                <a:solidFill>
                  <a:srgbClr val="000000"/>
                </a:solidFill>
                <a:effectLst/>
                <a:latin typeface="+mn-lt"/>
              </a:rPr>
              <a:t>:</a:t>
            </a:r>
            <a:br>
              <a:rPr lang="tr-TR" dirty="0">
                <a:latin typeface="+mn-lt"/>
              </a:rPr>
            </a:b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Calculate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criterion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impact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values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(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Ej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)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convert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them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into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weights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tr-TR" b="0" i="0" u="none" strike="noStrike" dirty="0">
              <a:solidFill>
                <a:srgbClr val="000000"/>
              </a:solidFill>
              <a:effectLst/>
              <a:latin typeface="+mn-lt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5BE97F6-3104-D0A7-C754-08CD9A1E0E44}"/>
              </a:ext>
            </a:extLst>
          </p:cNvPr>
          <p:cNvSpPr txBox="1"/>
          <p:nvPr/>
        </p:nvSpPr>
        <p:spPr>
          <a:xfrm>
            <a:off x="-1326933" y="448744"/>
            <a:ext cx="764406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1A202C"/>
              </a:buClr>
              <a:buSzPts val="2700"/>
            </a:pP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MEREC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Weight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Calculation</a:t>
            </a:r>
            <a:endParaRPr lang="en-US" sz="2700" b="1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5" name="Resim 4" descr="yazı tipi, metin, beyaz, grafik içeren bir resim&#10;&#10;Açıklama otomatik olarak oluşturuldu">
            <a:extLst>
              <a:ext uri="{FF2B5EF4-FFF2-40B4-BE49-F238E27FC236}">
                <a16:creationId xmlns:a16="http://schemas.microsoft.com/office/drawing/2014/main" id="{23A211F3-BE6C-344D-BFB7-746069BBF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47" y="2293138"/>
            <a:ext cx="2433862" cy="1135197"/>
          </a:xfrm>
          <a:prstGeom prst="rect">
            <a:avLst/>
          </a:prstGeom>
        </p:spPr>
      </p:pic>
      <p:pic>
        <p:nvPicPr>
          <p:cNvPr id="9" name="Resim 8" descr="yazı tipi, beyaz, simge, sembol, tasarım içeren bir resim&#10;&#10;Açıklama otomatik olarak oluşturuldu">
            <a:extLst>
              <a:ext uri="{FF2B5EF4-FFF2-40B4-BE49-F238E27FC236}">
                <a16:creationId xmlns:a16="http://schemas.microsoft.com/office/drawing/2014/main" id="{795787CD-8C42-3B1C-A6F5-C2ED350FD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058" y="3935627"/>
            <a:ext cx="2622048" cy="1148144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099C636C-4F54-6E97-F80C-23A09BC186D1}"/>
              </a:ext>
            </a:extLst>
          </p:cNvPr>
          <p:cNvSpPr txBox="1"/>
          <p:nvPr/>
        </p:nvSpPr>
        <p:spPr>
          <a:xfrm>
            <a:off x="224588" y="1713624"/>
            <a:ext cx="17253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  <a:latin typeface="+mn-lt"/>
              </a:rPr>
              <a:t>Formulas</a:t>
            </a:r>
            <a:r>
              <a:rPr lang="tr-TR" b="1" i="0" u="none" strike="noStrike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lang="tr-TR" b="0" i="0" u="none" strike="noStrike" dirty="0">
              <a:solidFill>
                <a:srgbClr val="000000"/>
              </a:solidFill>
              <a:effectLst/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  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Removal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effect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: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8F45195-1B23-4631-6BEB-E1EB60DD24F9}"/>
              </a:ext>
            </a:extLst>
          </p:cNvPr>
          <p:cNvSpPr txBox="1"/>
          <p:nvPr/>
        </p:nvSpPr>
        <p:spPr>
          <a:xfrm>
            <a:off x="269058" y="3569084"/>
            <a:ext cx="1542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Weighting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lang="tr-TR" dirty="0">
              <a:latin typeface="+mn-lt"/>
            </a:endParaRP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B5100349-0A2F-3B85-CFB6-EB2BEB478DE3}"/>
              </a:ext>
            </a:extLst>
          </p:cNvPr>
          <p:cNvSpPr txBox="1"/>
          <p:nvPr/>
        </p:nvSpPr>
        <p:spPr>
          <a:xfrm>
            <a:off x="3898232" y="1743894"/>
            <a:ext cx="52652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In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Excel: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Performed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in 04_MEREC_Weights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Outputs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final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objective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weights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use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AROMAN step</a:t>
            </a:r>
          </a:p>
        </p:txBody>
      </p:sp>
      <p:pic>
        <p:nvPicPr>
          <p:cNvPr id="7" name="Resim 6" descr="metin, ekran görüntüsü, sayı, numara, yazılım içeren bir resim&#10;&#10;Açıklama otomatik olarak oluşturuldu">
            <a:extLst>
              <a:ext uri="{FF2B5EF4-FFF2-40B4-BE49-F238E27FC236}">
                <a16:creationId xmlns:a16="http://schemas.microsoft.com/office/drawing/2014/main" id="{E18A0D9A-16CB-CB4C-5852-63948A523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6310" y="2757911"/>
            <a:ext cx="4112285" cy="223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6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>
          <a:extLst>
            <a:ext uri="{FF2B5EF4-FFF2-40B4-BE49-F238E27FC236}">
              <a16:creationId xmlns:a16="http://schemas.microsoft.com/office/drawing/2014/main" id="{1AD4E5C1-C276-C144-75C1-5289506AB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>
            <a:extLst>
              <a:ext uri="{FF2B5EF4-FFF2-40B4-BE49-F238E27FC236}">
                <a16:creationId xmlns:a16="http://schemas.microsoft.com/office/drawing/2014/main" id="{7AB52D19-D125-2532-5B25-37626328B478}"/>
              </a:ext>
            </a:extLst>
          </p:cNvPr>
          <p:cNvSpPr/>
          <p:nvPr/>
        </p:nvSpPr>
        <p:spPr>
          <a:xfrm>
            <a:off x="0" y="1331439"/>
            <a:ext cx="9144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050"/>
              <a:buFont typeface="Arial"/>
              <a:buNone/>
            </a:pPr>
            <a:endParaRPr lang="tr-TR" sz="4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>
            <a:extLst>
              <a:ext uri="{FF2B5EF4-FFF2-40B4-BE49-F238E27FC236}">
                <a16:creationId xmlns:a16="http://schemas.microsoft.com/office/drawing/2014/main" id="{C339B41E-8890-6B47-F413-CC0D869D6BAF}"/>
              </a:ext>
            </a:extLst>
          </p:cNvPr>
          <p:cNvSpPr/>
          <p:nvPr/>
        </p:nvSpPr>
        <p:spPr>
          <a:xfrm>
            <a:off x="1538278" y="2643188"/>
            <a:ext cx="613888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 Deep Dive into Software and Industrial Impact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504E1603-7006-F55D-7CE5-B94BB2BD1182}"/>
              </a:ext>
            </a:extLst>
          </p:cNvPr>
          <p:cNvSpPr/>
          <p:nvPr/>
        </p:nvSpPr>
        <p:spPr>
          <a:xfrm>
            <a:off x="3739614" y="3414713"/>
            <a:ext cx="17362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Presented by Team29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1FD1E5F5-1B31-F74F-0781-5D2E91B794AE}"/>
              </a:ext>
            </a:extLst>
          </p:cNvPr>
          <p:cNvSpPr/>
          <p:nvPr/>
        </p:nvSpPr>
        <p:spPr>
          <a:xfrm>
            <a:off x="3898232" y="3935627"/>
            <a:ext cx="151095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Date: June 11, 2025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;p1" descr="preencoded.png">
            <a:extLst>
              <a:ext uri="{FF2B5EF4-FFF2-40B4-BE49-F238E27FC236}">
                <a16:creationId xmlns:a16="http://schemas.microsoft.com/office/drawing/2014/main" id="{77F3D0A7-EAE6-F71C-EBB2-9EBF6F67C8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95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DFF34B00-D757-6ADB-3441-5DBA418F775E}"/>
              </a:ext>
            </a:extLst>
          </p:cNvPr>
          <p:cNvSpPr txBox="1"/>
          <p:nvPr/>
        </p:nvSpPr>
        <p:spPr>
          <a:xfrm>
            <a:off x="217094" y="1174526"/>
            <a:ext cx="75387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Method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Normalize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using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both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linear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vector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methods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compute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combined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normalized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score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761FE46E-D08A-F150-7915-CD81F368E3E2}"/>
              </a:ext>
            </a:extLst>
          </p:cNvPr>
          <p:cNvSpPr txBox="1"/>
          <p:nvPr/>
        </p:nvSpPr>
        <p:spPr>
          <a:xfrm>
            <a:off x="-1456490" y="446514"/>
            <a:ext cx="903972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1A202C"/>
              </a:buClr>
              <a:buSzPts val="2700"/>
            </a:pPr>
            <a:r>
              <a:rPr lang="tr-TR" sz="27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AROMAN Two-Step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Normalization</a:t>
            </a:r>
            <a:endParaRPr lang="en-US" sz="2700" b="1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B9F8FC5-9026-C24B-7D64-267719CC6407}"/>
              </a:ext>
            </a:extLst>
          </p:cNvPr>
          <p:cNvSpPr txBox="1"/>
          <p:nvPr/>
        </p:nvSpPr>
        <p:spPr>
          <a:xfrm>
            <a:off x="217094" y="1708220"/>
            <a:ext cx="5321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i="0" u="none" strike="noStrike" dirty="0" err="1">
                <a:solidFill>
                  <a:srgbClr val="000000"/>
                </a:solidFill>
                <a:effectLst/>
                <a:latin typeface="+mn-lt"/>
              </a:rPr>
              <a:t>Formulas</a:t>
            </a:r>
            <a:r>
              <a:rPr lang="tr-TR" b="1" i="0" u="none" strike="noStrike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lang="tr-TR" b="1" dirty="0">
              <a:latin typeface="+mn-lt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8B5C3D65-9686-A8AA-7EF3-2B2D5C980073}"/>
              </a:ext>
            </a:extLst>
          </p:cNvPr>
          <p:cNvSpPr txBox="1"/>
          <p:nvPr/>
        </p:nvSpPr>
        <p:spPr>
          <a:xfrm>
            <a:off x="447407" y="2042906"/>
            <a:ext cx="5321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Linear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lang="tr-TR" dirty="0">
              <a:latin typeface="+mn-lt"/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5AF2C5A4-6F10-70C4-73BC-5C40CD5B9355}"/>
              </a:ext>
            </a:extLst>
          </p:cNvPr>
          <p:cNvSpPr txBox="1"/>
          <p:nvPr/>
        </p:nvSpPr>
        <p:spPr>
          <a:xfrm>
            <a:off x="4173248" y="2061614"/>
            <a:ext cx="5321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Vector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lang="tr-TR" dirty="0">
              <a:latin typeface="+mn-lt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E6A039FB-76CF-51E0-7B38-98A9F2F7AE6C}"/>
              </a:ext>
            </a:extLst>
          </p:cNvPr>
          <p:cNvSpPr txBox="1"/>
          <p:nvPr/>
        </p:nvSpPr>
        <p:spPr>
          <a:xfrm>
            <a:off x="447407" y="3560208"/>
            <a:ext cx="5321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Combined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+mn-lt"/>
              </a:rPr>
              <a:t> (</a:t>
            </a:r>
            <a:r>
              <a:rPr lang="el-GR" b="0" i="0" u="none" strike="noStrike" dirty="0">
                <a:solidFill>
                  <a:srgbClr val="000000"/>
                </a:solidFill>
                <a:effectLst/>
                <a:latin typeface="+mn-lt"/>
              </a:rPr>
              <a:t>β = 0.5):</a:t>
            </a:r>
            <a:endParaRPr lang="tr-TR" dirty="0">
              <a:latin typeface="+mn-lt"/>
            </a:endParaRPr>
          </a:p>
        </p:txBody>
      </p:sp>
      <p:pic>
        <p:nvPicPr>
          <p:cNvPr id="22" name="Resim 21" descr="metin, yazı tipi, beyaz, tasarım içeren bir resim&#10;&#10;Açıklama otomatik olarak oluşturuldu">
            <a:extLst>
              <a:ext uri="{FF2B5EF4-FFF2-40B4-BE49-F238E27FC236}">
                <a16:creationId xmlns:a16="http://schemas.microsoft.com/office/drawing/2014/main" id="{CA4C5A63-3F5A-A8B5-AA10-5346B5179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07" y="2402009"/>
            <a:ext cx="2453190" cy="1012704"/>
          </a:xfrm>
          <a:prstGeom prst="rect">
            <a:avLst/>
          </a:prstGeom>
        </p:spPr>
      </p:pic>
      <p:pic>
        <p:nvPicPr>
          <p:cNvPr id="25" name="Resim 24" descr="yazı tipi, beyaz, simge, sembol, grafik içeren bir resim&#10;&#10;Açıklama otomatik olarak oluşturuldu">
            <a:extLst>
              <a:ext uri="{FF2B5EF4-FFF2-40B4-BE49-F238E27FC236}">
                <a16:creationId xmlns:a16="http://schemas.microsoft.com/office/drawing/2014/main" id="{FE2129B2-D4C5-492A-C2E4-9689BE010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202" y="2386952"/>
            <a:ext cx="2590800" cy="1049731"/>
          </a:xfrm>
          <a:prstGeom prst="rect">
            <a:avLst/>
          </a:prstGeom>
        </p:spPr>
      </p:pic>
      <p:pic>
        <p:nvPicPr>
          <p:cNvPr id="27" name="Resim 26" descr="yazı tipi, çizgi, beyaz, metin içeren bir resim&#10;&#10;Açıklama otomatik olarak oluşturuldu">
            <a:extLst>
              <a:ext uri="{FF2B5EF4-FFF2-40B4-BE49-F238E27FC236}">
                <a16:creationId xmlns:a16="http://schemas.microsoft.com/office/drawing/2014/main" id="{D104D85F-9B0C-A7E9-A59D-848917294B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407" y="3950466"/>
            <a:ext cx="3213100" cy="965200"/>
          </a:xfrm>
          <a:prstGeom prst="rect">
            <a:avLst/>
          </a:prstGeom>
        </p:spPr>
      </p:pic>
      <p:sp>
        <p:nvSpPr>
          <p:cNvPr id="29" name="Metin kutusu 28">
            <a:extLst>
              <a:ext uri="{FF2B5EF4-FFF2-40B4-BE49-F238E27FC236}">
                <a16:creationId xmlns:a16="http://schemas.microsoft.com/office/drawing/2014/main" id="{9F01C742-A35D-EAE5-7964-FEFFCB818D04}"/>
              </a:ext>
            </a:extLst>
          </p:cNvPr>
          <p:cNvSpPr txBox="1"/>
          <p:nvPr/>
        </p:nvSpPr>
        <p:spPr>
          <a:xfrm>
            <a:off x="3840474" y="3932995"/>
            <a:ext cx="54789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In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Excel: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Implemented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in 05_AROMAN_Normalize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Multiplied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MEREC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weights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compute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weighted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pPr algn="l"/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normalized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values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2965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>
          <a:extLst>
            <a:ext uri="{FF2B5EF4-FFF2-40B4-BE49-F238E27FC236}">
              <a16:creationId xmlns:a16="http://schemas.microsoft.com/office/drawing/2014/main" id="{9B84FAB2-72DE-1F40-D358-C7EFA7DC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>
            <a:extLst>
              <a:ext uri="{FF2B5EF4-FFF2-40B4-BE49-F238E27FC236}">
                <a16:creationId xmlns:a16="http://schemas.microsoft.com/office/drawing/2014/main" id="{7F7A2645-34C4-EDC7-4C5B-0C9E9D725B4D}"/>
              </a:ext>
            </a:extLst>
          </p:cNvPr>
          <p:cNvSpPr/>
          <p:nvPr/>
        </p:nvSpPr>
        <p:spPr>
          <a:xfrm>
            <a:off x="0" y="1331439"/>
            <a:ext cx="9144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050"/>
              <a:buFont typeface="Arial"/>
              <a:buNone/>
            </a:pPr>
            <a:endParaRPr lang="tr-TR" sz="4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>
            <a:extLst>
              <a:ext uri="{FF2B5EF4-FFF2-40B4-BE49-F238E27FC236}">
                <a16:creationId xmlns:a16="http://schemas.microsoft.com/office/drawing/2014/main" id="{36292FE8-EB11-8390-F646-D5355E815206}"/>
              </a:ext>
            </a:extLst>
          </p:cNvPr>
          <p:cNvSpPr/>
          <p:nvPr/>
        </p:nvSpPr>
        <p:spPr>
          <a:xfrm>
            <a:off x="1538278" y="2643188"/>
            <a:ext cx="613888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 Deep Dive into Software and Industrial Impact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047BAFE2-B9D1-1E4C-B091-797FFE5E898E}"/>
              </a:ext>
            </a:extLst>
          </p:cNvPr>
          <p:cNvSpPr/>
          <p:nvPr/>
        </p:nvSpPr>
        <p:spPr>
          <a:xfrm>
            <a:off x="3739614" y="3414713"/>
            <a:ext cx="17362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Presented by Team29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E5C848CD-C866-4982-D991-2735A6FCA64C}"/>
              </a:ext>
            </a:extLst>
          </p:cNvPr>
          <p:cNvSpPr/>
          <p:nvPr/>
        </p:nvSpPr>
        <p:spPr>
          <a:xfrm>
            <a:off x="3898232" y="3935627"/>
            <a:ext cx="151095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Date: June 11, 2025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;p1" descr="preencoded.png">
            <a:extLst>
              <a:ext uri="{FF2B5EF4-FFF2-40B4-BE49-F238E27FC236}">
                <a16:creationId xmlns:a16="http://schemas.microsoft.com/office/drawing/2014/main" id="{2552735F-4A0F-A36E-89CC-F43D57EA78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C9375854-4784-BFEA-E46A-9FD74D68B74F}"/>
              </a:ext>
            </a:extLst>
          </p:cNvPr>
          <p:cNvSpPr txBox="1"/>
          <p:nvPr/>
        </p:nvSpPr>
        <p:spPr>
          <a:xfrm>
            <a:off x="217094" y="1174526"/>
            <a:ext cx="75387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Method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br>
              <a:rPr lang="tr-TR" b="0" i="0" u="none" strike="noStrike" dirty="0">
                <a:solidFill>
                  <a:srgbClr val="000000"/>
                </a:solidFill>
                <a:effectLst/>
              </a:rPr>
            </a:b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Compute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final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sustainability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score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Ri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)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rank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alternatives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B1731AB-C475-7CE0-975E-E9BFD6F5F9F2}"/>
              </a:ext>
            </a:extLst>
          </p:cNvPr>
          <p:cNvSpPr txBox="1"/>
          <p:nvPr/>
        </p:nvSpPr>
        <p:spPr>
          <a:xfrm>
            <a:off x="-459754" y="431019"/>
            <a:ext cx="713582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1A202C"/>
              </a:buClr>
              <a:buSzPts val="2700"/>
            </a:pP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AROMAN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Scoring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and</a:t>
            </a:r>
            <a:r>
              <a:rPr lang="tr-TR" sz="2700" b="1" i="0" u="none" strike="noStrike" dirty="0">
                <a:solidFill>
                  <a:srgbClr val="000000"/>
                </a:solidFill>
                <a:effectLst/>
                <a:latin typeface="+mj-lt"/>
              </a:rPr>
              <a:t> Final </a:t>
            </a:r>
            <a:r>
              <a:rPr lang="tr-TR" sz="2700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Ranking</a:t>
            </a:r>
            <a:endParaRPr lang="en-US" sz="2700" b="1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B99EE157-19BC-89B7-3520-54EA63EDF809}"/>
              </a:ext>
            </a:extLst>
          </p:cNvPr>
          <p:cNvSpPr txBox="1"/>
          <p:nvPr/>
        </p:nvSpPr>
        <p:spPr>
          <a:xfrm>
            <a:off x="217094" y="1812486"/>
            <a:ext cx="5321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i="0" u="none" strike="noStrike" dirty="0">
                <a:solidFill>
                  <a:srgbClr val="000000"/>
                </a:solidFill>
                <a:effectLst/>
                <a:latin typeface="+mn-lt"/>
              </a:rPr>
              <a:t>Formula</a:t>
            </a:r>
            <a:endParaRPr lang="tr-TR" b="1" dirty="0">
              <a:latin typeface="+mn-lt"/>
            </a:endParaRPr>
          </a:p>
        </p:txBody>
      </p:sp>
      <p:pic>
        <p:nvPicPr>
          <p:cNvPr id="7" name="Resim 6" descr="yazı tipi, metin, beyaz, tipografi içeren bir resim&#10;&#10;Açıklama otomatik olarak oluşturuldu">
            <a:extLst>
              <a:ext uri="{FF2B5EF4-FFF2-40B4-BE49-F238E27FC236}">
                <a16:creationId xmlns:a16="http://schemas.microsoft.com/office/drawing/2014/main" id="{F082E875-50C6-B62D-AFF7-0857A01A8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61" y="2213022"/>
            <a:ext cx="2897586" cy="1059059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CE3E5500-0852-D664-AE65-D4F426D9D907}"/>
              </a:ext>
            </a:extLst>
          </p:cNvPr>
          <p:cNvSpPr txBox="1"/>
          <p:nvPr/>
        </p:nvSpPr>
        <p:spPr>
          <a:xfrm>
            <a:off x="4601846" y="1836577"/>
            <a:ext cx="552413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In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Excel: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Final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Ri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values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calculated</a:t>
            </a:r>
            <a:r>
              <a:rPr lang="tr-TR" dirty="0"/>
              <a:t> 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in </a:t>
            </a:r>
          </a:p>
          <a:p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06_AROMAN_Scores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Rankings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derived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in 07_FinalRanking 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sheet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 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1E871DC1-07C1-A3DE-62DF-D826081BCC81}"/>
              </a:ext>
            </a:extLst>
          </p:cNvPr>
          <p:cNvSpPr txBox="1"/>
          <p:nvPr/>
        </p:nvSpPr>
        <p:spPr>
          <a:xfrm>
            <a:off x="163418" y="3623015"/>
            <a:ext cx="41336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Result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Toyota Türkiye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achieved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highest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Ri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score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→ 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Rank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1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1" dirty="0"/>
              <a:t>Tofaş Bursa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ranked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lowest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sustainability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performance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9" name="Resim 8" descr="metin, ekran görüntüsü, sayı, numara, yazı tipi içeren bir resim&#10;&#10;Açıklama otomatik olarak oluşturuldu">
            <a:extLst>
              <a:ext uri="{FF2B5EF4-FFF2-40B4-BE49-F238E27FC236}">
                <a16:creationId xmlns:a16="http://schemas.microsoft.com/office/drawing/2014/main" id="{D42550A5-BDD4-97C5-09CF-D4160F5DB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84" y="3303098"/>
            <a:ext cx="3835380" cy="148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62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285750" y="962732"/>
            <a:ext cx="8643938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 dirty="0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Introduction: The Software Solution for Sustainability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85750" y="2478881"/>
            <a:ext cx="1428750" cy="1428750"/>
          </a:xfrm>
          <a:prstGeom prst="ellipse">
            <a:avLst/>
          </a:prstGeom>
          <a:solidFill>
            <a:srgbClr val="90CA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736056"/>
            <a:ext cx="1143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2000250" y="2205744"/>
            <a:ext cx="6929438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MEREC-AROMAN Sustainability Assessment Tool is primarily a web application, leveraging modern software engineering principles to deliver a powerful sustainability evaluation platform.</a:t>
            </a:r>
            <a:endParaRPr sz="162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000250" y="3193256"/>
            <a:ext cx="6929438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It transforms complex multi-criteria decision-making algorithms into an accessible and interactive digital solution for automotive manufacturing plants.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285750" y="525707"/>
            <a:ext cx="8643938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Software Capabilities: Dynamic Input &amp; Algorithmic Core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000125" y="1768720"/>
            <a:ext cx="3464719" cy="14545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8719" y="2295962"/>
            <a:ext cx="500063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/>
          <p:nvPr/>
        </p:nvSpPr>
        <p:spPr>
          <a:xfrm>
            <a:off x="1821656" y="2118401"/>
            <a:ext cx="1392222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40"/>
              <a:buFont typeface="Arial"/>
              <a:buNone/>
            </a:pPr>
            <a:r>
              <a:rPr lang="en-US" sz="1440" b="1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Dynamic Input: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821656" y="2323776"/>
            <a:ext cx="24291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40"/>
              <a:buFont typeface="Arial"/>
              <a:buNone/>
            </a:pPr>
            <a:r>
              <a:rPr lang="en-US" sz="144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Flexible and interactive data entry for alternatives and criteria.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679156" y="1768720"/>
            <a:ext cx="3464719" cy="14545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0" y="2295962"/>
            <a:ext cx="300038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5300663" y="1981247"/>
            <a:ext cx="1615687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40"/>
              <a:buFont typeface="Arial"/>
              <a:buNone/>
            </a:pPr>
            <a:r>
              <a:rPr lang="en-US" sz="1440" b="1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Algorithmic Core: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300663" y="1981247"/>
            <a:ext cx="2581880" cy="102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40"/>
              <a:buFont typeface="Arial"/>
              <a:buNone/>
            </a:pPr>
            <a:r>
              <a:rPr lang="en-US" sz="144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Precise implementation of MEREC and AROMAN algorithms in JavaScript.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000138" y="3437567"/>
            <a:ext cx="3464700" cy="118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8719" y="3827627"/>
            <a:ext cx="450056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1771650" y="3650093"/>
            <a:ext cx="1246752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40"/>
              <a:buFont typeface="Arial"/>
              <a:buNone/>
            </a:pPr>
            <a:r>
              <a:rPr lang="en-US" sz="1440" b="1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Visualization: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771650" y="3783168"/>
            <a:ext cx="22836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40"/>
              <a:buFont typeface="Arial"/>
              <a:buNone/>
            </a:pPr>
            <a:r>
              <a:rPr lang="en-US" sz="144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Intuitive and interactive presentation of assessment results.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679156" y="3437567"/>
            <a:ext cx="3464719" cy="11801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0" y="3827627"/>
            <a:ext cx="300038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5300663" y="3650093"/>
            <a:ext cx="1128015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40"/>
              <a:buFont typeface="Arial"/>
              <a:buNone/>
            </a:pPr>
            <a:r>
              <a:rPr lang="en-US" sz="1440" b="1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CSV Import: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307476" y="3827618"/>
            <a:ext cx="25683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40"/>
              <a:buFont typeface="Arial"/>
              <a:buNone/>
            </a:pPr>
            <a:r>
              <a:rPr lang="en-US" sz="144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Efficient handling of large datasets through CSV file uploads.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20567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285750" y="285750"/>
            <a:ext cx="8643938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The Decision Problem &amp; MEREC-AROMAN Approach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71500" y="1578769"/>
            <a:ext cx="18776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Decision Problem: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71500" y="1578769"/>
            <a:ext cx="7766791" cy="55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b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20">
                <a:solidFill>
                  <a:srgbClr val="2C3E50"/>
                </a:solidFill>
              </a:rPr>
              <a:t>king the sustainability performance of various automotive manufacturing plants or alternative production processes.</a:t>
            </a: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valuating and ran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71500" y="2344266"/>
            <a:ext cx="131760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Alternatives: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71500" y="2344266"/>
            <a:ext cx="7820230" cy="55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br>
              <a:rPr lang="en-US" sz="1620">
                <a:solidFill>
                  <a:srgbClr val="2C3E50"/>
                </a:solidFill>
              </a:rPr>
            </a:b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Different manufacturing plants, production lines, or strategic options for sustainability improvement.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71500" y="3109764"/>
            <a:ext cx="86026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Criteria: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71500" y="3109764"/>
            <a:ext cx="8273830" cy="55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br>
              <a:rPr lang="en-US" sz="1620">
                <a:solidFill>
                  <a:srgbClr val="2C3E50"/>
                </a:solidFill>
              </a:rPr>
            </a:b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 set of relevant sustainability indicators (e.g., energy efficiency, waste reduction, social impact, economic viability).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71500" y="3875261"/>
            <a:ext cx="255132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Assigned MCDM Method: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71500" y="3875261"/>
            <a:ext cx="7764782" cy="886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MEREC for objective criteria weighting and AROMAN for robust alternative ranking, chosen for their ability to handle complex, multi-faceted sustainability data.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285750" y="890736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MEREC Algorithm: Software Implementation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285750" y="1619399"/>
            <a:ext cx="4786313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MEREC algorithm is meticulously translated into JavaScript code, ensuring accurate objective criteria weighting.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85750" y="2606911"/>
            <a:ext cx="4786313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software handles normalization, calculation of overall performance with and without each criterion, and computation of removal effects.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85750" y="3594422"/>
            <a:ext cx="4786313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This implementation ensures unbiased weights for robust sustainability assessment.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4969" y="1864519"/>
            <a:ext cx="3214688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285750" y="1055322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AROMAN Algorithm: Software Implementation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85750" y="1783984"/>
            <a:ext cx="4786313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AROMAN algorithm is implemented in JavaScript, handling two-step normalization and alternative ranking.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85750" y="2771496"/>
            <a:ext cx="4786313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It processes the MEREC-derived weights and input data to generate a robust ranking of alternatives.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85750" y="3429837"/>
            <a:ext cx="4786313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software ensures accurate aggregation of cost and benefit criteria for final score calculation.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4969" y="1864519"/>
            <a:ext cx="3214688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/>
          <p:nvPr/>
        </p:nvSpPr>
        <p:spPr>
          <a:xfrm>
            <a:off x="285750" y="458260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Implementation Architecture: React &amp; JavaScript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71500" y="1186923"/>
            <a:ext cx="835818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Developed as a modern web application, designed for accessibility and ease of use across various devices.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71500" y="2002427"/>
            <a:ext cx="95176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Built with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451828" y="2002427"/>
            <a:ext cx="63174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71500" y="2002427"/>
            <a:ext cx="7641134" cy="55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 leading JavaScript library for building user interfaces, ensuring a responsive and component-based structure.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71500" y="2767924"/>
            <a:ext cx="7719854" cy="55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Core mathematical computations for MEREC and AROMAN algorithms are primarily handled using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909781" y="3097095"/>
            <a:ext cx="11120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2950425" y="3097095"/>
            <a:ext cx="12861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71500" y="3483415"/>
            <a:ext cx="835818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Follows a client-side rendering architecture, enhancing responsiveness and reducing server load.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71500" y="4248913"/>
            <a:ext cx="8358188" cy="32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Modular design facilitates maintainability and scalability of the application.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/>
          <p:nvPr/>
        </p:nvSpPr>
        <p:spPr>
          <a:xfrm>
            <a:off x="285750" y="726151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User Interface: Data Input &amp; CSV Integration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285750" y="1454814"/>
            <a:ext cx="4071938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Data Input tab provides a highly interactive and dynamic user experience for defining assessment scenarios.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285750" y="2442325"/>
            <a:ext cx="4071938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Users can easily add, remove, and configure alternatives and criteria through intuitive UI elements.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285750" y="3429837"/>
            <a:ext cx="4071938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integrated CSV import functionality allows for seamless bulk data entry, enhancing usability for large datasets.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1660" y="1507331"/>
            <a:ext cx="3826929" cy="285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9"/>
          <p:cNvSpPr/>
          <p:nvPr/>
        </p:nvSpPr>
        <p:spPr>
          <a:xfrm>
            <a:off x="285750" y="561566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User Interface: Calculation &amp; Processing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285750" y="1290228"/>
            <a:ext cx="4071938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Calculation tab serves as the control center for initiating the complex MEREC and AROMAN computations.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285750" y="2277740"/>
            <a:ext cx="4071938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 clear and prominent button triggers the algorithmic processing, providing immediate feedback to the user.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285750" y="3265252"/>
            <a:ext cx="4071938" cy="131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software efficiently handles the multi-step calculations, ensuring accurate and timely results for the sustainability assessment.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1660" y="1507331"/>
            <a:ext cx="3826929" cy="285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/>
          <p:nvPr/>
        </p:nvSpPr>
        <p:spPr>
          <a:xfrm>
            <a:off x="285750" y="396980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User Interface: Results &amp; Visual Insights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285750" y="1125643"/>
            <a:ext cx="4071938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Results tab provides a clear and concise presentation of the sustainability assessment outcomes.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285750" y="2113155"/>
            <a:ext cx="4071938" cy="131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software leverages intuitive data visualization techniques to present the AROMAN ranking, allowing users to quickly grasp key insights.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285750" y="3429837"/>
            <a:ext cx="4071938" cy="131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This visual representation enhances understanding and facilitates informed decision-making based on the calculated results.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1660" y="1507331"/>
            <a:ext cx="3826929" cy="285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1"/>
          <p:cNvSpPr/>
          <p:nvPr/>
        </p:nvSpPr>
        <p:spPr>
          <a:xfrm>
            <a:off x="285750" y="480864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Excel Implementation &amp; Sample Results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285750" y="1209526"/>
            <a:ext cx="864393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core MEREC-AROMAN algorithms were initially prototyped and validated in Excel, serving as a foundational reference for the web application's development.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285750" y="1867867"/>
            <a:ext cx="864393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This Excel implementation allowed for step-by-step verification of calculations and provided sample results for cross-validation.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1146572" y="3144701"/>
            <a:ext cx="830321" cy="532879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1146572" y="3144701"/>
            <a:ext cx="901759" cy="53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Alternative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1973321" y="3144701"/>
            <a:ext cx="936361" cy="532879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1973321" y="3144701"/>
            <a:ext cx="1007799" cy="53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Energy Efficiency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2903823" y="3144701"/>
            <a:ext cx="938119" cy="532879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2903823" y="3144701"/>
            <a:ext cx="1009557" cy="53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Waste Reduction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3837198" y="3144701"/>
            <a:ext cx="1144730" cy="532879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3837198" y="3144701"/>
            <a:ext cx="1216168" cy="53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Water Consumption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4978273" y="3144701"/>
            <a:ext cx="713649" cy="532879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4978273" y="3144701"/>
            <a:ext cx="785087" cy="53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Social Impact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5689383" y="3144701"/>
            <a:ext cx="969039" cy="532879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5689383" y="3144701"/>
            <a:ext cx="1040476" cy="53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Economic Viability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657417" y="3144701"/>
            <a:ext cx="883146" cy="532879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6657417" y="3144701"/>
            <a:ext cx="954584" cy="53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AROMAN Score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7540507" y="3146487"/>
            <a:ext cx="456921" cy="529307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7540507" y="3146487"/>
            <a:ext cx="528358" cy="52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1146572" y="3674008"/>
            <a:ext cx="894615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Plant A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1969750" y="3674008"/>
            <a:ext cx="1010338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0.85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2908650" y="3674008"/>
            <a:ext cx="1009697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0.70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3846909" y="3674008"/>
            <a:ext cx="1214884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990356" y="3674008"/>
            <a:ext cx="783050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0.75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5701968" y="3674008"/>
            <a:ext cx="1038383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6668914" y="3674008"/>
            <a:ext cx="950119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0.78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7547595" y="3674008"/>
            <a:ext cx="521271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146572" y="4001170"/>
            <a:ext cx="894615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Plant B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1969750" y="4001170"/>
            <a:ext cx="1010338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0.70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2908650" y="4001170"/>
            <a:ext cx="1009697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3846909" y="4001170"/>
            <a:ext cx="1214884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0.75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990356" y="4001170"/>
            <a:ext cx="783050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0.85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5701968" y="4001170"/>
            <a:ext cx="1038383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0.70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6668914" y="4001170"/>
            <a:ext cx="950119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0.76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7547595" y="4001170"/>
            <a:ext cx="521271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1146572" y="4328331"/>
            <a:ext cx="894615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Plant C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1969750" y="4328331"/>
            <a:ext cx="1010338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2908650" y="4328331"/>
            <a:ext cx="1009697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0.65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3846909" y="4328331"/>
            <a:ext cx="1214884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990356" y="4328331"/>
            <a:ext cx="783050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0.70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701968" y="4328331"/>
            <a:ext cx="1038383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668914" y="4328331"/>
            <a:ext cx="950119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0.79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7547595" y="4328331"/>
            <a:ext cx="521271" cy="32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68050" rIns="68050" bIns="680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25" y="2615272"/>
            <a:ext cx="9143999" cy="2113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/>
          <p:nvPr/>
        </p:nvSpPr>
        <p:spPr>
          <a:xfrm>
            <a:off x="285750" y="1219907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Application Demo: Input Entry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285750" y="1948569"/>
            <a:ext cx="692943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In a live demonstration, we would showcase the intuitive data input process on the 'Data Input' tab.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285750" y="2606911"/>
            <a:ext cx="692943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This includes dynamically adding alternatives and criteria, specifying criterion types (Benefit/Cost), and entering performance values.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285750" y="3265252"/>
            <a:ext cx="692943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We would also demonstrate the efficient CSV import functionality for bulk data entry.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7429500" y="2221706"/>
            <a:ext cx="1428750" cy="1428750"/>
          </a:xfrm>
          <a:prstGeom prst="ellipse">
            <a:avLst/>
          </a:prstGeom>
          <a:solidFill>
            <a:srgbClr val="90CA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9525" y="2478881"/>
            <a:ext cx="10287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67b8deec37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475" y="152400"/>
            <a:ext cx="816198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/>
          <p:nvPr/>
        </p:nvSpPr>
        <p:spPr>
          <a:xfrm>
            <a:off x="285750" y="1219907"/>
            <a:ext cx="86439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Application Demo: Method Execution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285750" y="2221706"/>
            <a:ext cx="1428900" cy="1428900"/>
          </a:xfrm>
          <a:prstGeom prst="ellipse">
            <a:avLst/>
          </a:prstGeom>
          <a:solidFill>
            <a:srgbClr val="90CA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925" y="2478881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3"/>
          <p:cNvSpPr/>
          <p:nvPr/>
        </p:nvSpPr>
        <p:spPr>
          <a:xfrm>
            <a:off x="2000250" y="1948569"/>
            <a:ext cx="6929400" cy="6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Following data input, the demo would transition to the 'Calculation' tab, showcasing the simplicity of executing the MEREC-AROMAN method.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2000250" y="2606911"/>
            <a:ext cx="6929400" cy="6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 single click on the 'Calculate MEREC-AROMAN' button initiates the complex algorithmic computations in the background.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2000250" y="3265252"/>
            <a:ext cx="6929400" cy="6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This highlights the software's ability to abstract complex mathematical processes into a user-friendly interaction.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367b8deec37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50" y="152400"/>
            <a:ext cx="861165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/>
          <p:nvPr/>
        </p:nvSpPr>
        <p:spPr>
          <a:xfrm>
            <a:off x="285750" y="561566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Application Demo: Final Results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285750" y="1290228"/>
            <a:ext cx="4071938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demo concludes on the 'Results' tab, showcasing the final AROMAN ranking of alternatives.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285750" y="2277740"/>
            <a:ext cx="4071938" cy="131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software presents these results in clear, intuitive tables and visual charts, enabling quick interpretation of sustainability performance.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285750" y="3594422"/>
            <a:ext cx="4071938" cy="98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This demonstrates the tool's effectiveness in providing actionable insights for decision-makers.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7700" y="1448300"/>
            <a:ext cx="4597376" cy="286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5"/>
          <p:cNvSpPr/>
          <p:nvPr/>
        </p:nvSpPr>
        <p:spPr>
          <a:xfrm>
            <a:off x="285750" y="882700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 dirty="0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Consistency Check: Validating with Article Data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285750" y="2221706"/>
            <a:ext cx="1428750" cy="1428750"/>
          </a:xfrm>
          <a:prstGeom prst="ellipse">
            <a:avLst/>
          </a:prstGeom>
          <a:solidFill>
            <a:srgbClr val="90CA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6" name="Google Shape;246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925" y="2478881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96084607-CE8A-08E1-8C38-F113789676B5}"/>
              </a:ext>
            </a:extLst>
          </p:cNvPr>
          <p:cNvSpPr txBox="1"/>
          <p:nvPr/>
        </p:nvSpPr>
        <p:spPr>
          <a:xfrm>
            <a:off x="1858781" y="1980474"/>
            <a:ext cx="66736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While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application’s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MEREC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weights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AROMAN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rankings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generally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aligned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those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reference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article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minor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deviations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were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observed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in final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Ri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scores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These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differences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may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result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from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Slight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variations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in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rounding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normalization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steps</a:t>
            </a:r>
            <a:endParaRPr lang="tr-T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Data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interpretation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differences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e.g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.,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cost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vs.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benefit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treatment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Manual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reconstruction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sample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data</a:t>
            </a:r>
          </a:p>
          <a:p>
            <a:pPr algn="l"/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These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findings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emphasize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importance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of 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precise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data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handling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transparent</a:t>
            </a:r>
            <a:r>
              <a:rPr lang="tr-TR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1" i="0" u="none" strike="noStrike" dirty="0" err="1">
                <a:solidFill>
                  <a:srgbClr val="000000"/>
                </a:solidFill>
                <a:effectLst/>
              </a:rPr>
              <a:t>assumptions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 in MCDM-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based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decision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support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systems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6"/>
          <p:cNvSpPr/>
          <p:nvPr/>
        </p:nvSpPr>
        <p:spPr>
          <a:xfrm>
            <a:off x="285750" y="676424"/>
            <a:ext cx="864393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Industrial Context &amp; Future Outlook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571500" y="1405086"/>
            <a:ext cx="835818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automotive manufacturing industry faces increasing pressure for sustainable practices due to environmental concerns and regulations.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571500" y="2170584"/>
            <a:ext cx="835818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MEREC-AROMAN tool provides a practical solution for assessing and improving sustainability performance in this sector.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571500" y="2936081"/>
            <a:ext cx="835818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Future outlook includes expanding the tool's application to other industries and integrating real-time data for dynamic assessments.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571500" y="3701579"/>
            <a:ext cx="8358188" cy="65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20"/>
              <a:buFont typeface="Arial"/>
              <a:buNone/>
            </a:pPr>
            <a:r>
              <a:rPr lang="en-US" sz="162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Further research into advanced visualization techniques can enhance user understanding and engagement in industrial settings.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1907</Words>
  <Application>Microsoft Macintosh PowerPoint</Application>
  <PresentationFormat>Ekran Gösterisi (16:9)</PresentationFormat>
  <Paragraphs>276</Paragraphs>
  <Slides>27</Slides>
  <Notes>27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27</vt:i4>
      </vt:variant>
    </vt:vector>
  </HeadingPairs>
  <TitlesOfParts>
    <vt:vector size="31" baseType="lpstr">
      <vt:lpstr>-webkit-standard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11634</cp:lastModifiedBy>
  <cp:revision>9</cp:revision>
  <dcterms:created xsi:type="dcterms:W3CDTF">2025-06-11T20:34:14Z</dcterms:created>
  <dcterms:modified xsi:type="dcterms:W3CDTF">2025-06-13T12:51:34Z</dcterms:modified>
</cp:coreProperties>
</file>